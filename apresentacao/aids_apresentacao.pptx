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2E86C1"/>
            </a:solidFill>
            <a:ln w="3810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1531</c:v>
                </c:pt>
                <c:pt idx="1">
                  <c:v>1748</c:v>
                </c:pt>
                <c:pt idx="2">
                  <c:v>1803</c:v>
                </c:pt>
                <c:pt idx="3">
                  <c:v>2049</c:v>
                </c:pt>
                <c:pt idx="4">
                  <c:v>2034</c:v>
                </c:pt>
                <c:pt idx="5">
                  <c:v>2080</c:v>
                </c:pt>
                <c:pt idx="6">
                  <c:v>2210</c:v>
                </c:pt>
                <c:pt idx="7">
                  <c:v>2278</c:v>
                </c:pt>
                <c:pt idx="8">
                  <c:v>2450</c:v>
                </c:pt>
                <c:pt idx="9">
                  <c:v>2441</c:v>
                </c:pt>
                <c:pt idx="10">
                  <c:v>1954</c:v>
                </c:pt>
                <c:pt idx="11">
                  <c:v>2400</c:v>
                </c:pt>
                <c:pt idx="12">
                  <c:v>2603</c:v>
                </c:pt>
                <c:pt idx="13">
                  <c:v>2828</c:v>
                </c:pt>
                <c:pt idx="14">
                  <c:v>2973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920</c:v>
                </c:pt>
                <c:pt idx="1">
                  <c:v>1043</c:v>
                </c:pt>
                <c:pt idx="2">
                  <c:v>1098</c:v>
                </c:pt>
                <c:pt idx="3">
                  <c:v>1267</c:v>
                </c:pt>
                <c:pt idx="4">
                  <c:v>1284</c:v>
                </c:pt>
                <c:pt idx="5">
                  <c:v>1280</c:v>
                </c:pt>
                <c:pt idx="6">
                  <c:v>1366</c:v>
                </c:pt>
                <c:pt idx="7">
                  <c:v>1430</c:v>
                </c:pt>
                <c:pt idx="8">
                  <c:v>1576</c:v>
                </c:pt>
                <c:pt idx="9">
                  <c:v>1538</c:v>
                </c:pt>
                <c:pt idx="10">
                  <c:v>1233</c:v>
                </c:pt>
                <c:pt idx="11">
                  <c:v>1539</c:v>
                </c:pt>
                <c:pt idx="12">
                  <c:v>1610</c:v>
                </c:pt>
                <c:pt idx="13">
                  <c:v>1758</c:v>
                </c:pt>
                <c:pt idx="14">
                  <c:v>1855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Feminino</c:v>
                </c:pt>
              </c:strCache>
            </c:strRef>
          </c:tx>
          <c:spPr>
            <a:solidFill>
              <a:srgbClr val="E74C3C"/>
            </a:solidFill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611</c:v>
                </c:pt>
                <c:pt idx="1">
                  <c:v>705</c:v>
                </c:pt>
                <c:pt idx="2">
                  <c:v>705</c:v>
                </c:pt>
                <c:pt idx="3">
                  <c:v>782</c:v>
                </c:pt>
                <c:pt idx="4">
                  <c:v>750</c:v>
                </c:pt>
                <c:pt idx="5">
                  <c:v>800</c:v>
                </c:pt>
                <c:pt idx="6">
                  <c:v>841</c:v>
                </c:pt>
                <c:pt idx="7">
                  <c:v>847</c:v>
                </c:pt>
                <c:pt idx="8">
                  <c:v>874</c:v>
                </c:pt>
                <c:pt idx="9">
                  <c:v>903</c:v>
                </c:pt>
                <c:pt idx="10">
                  <c:v>720</c:v>
                </c:pt>
                <c:pt idx="11">
                  <c:v>861</c:v>
                </c:pt>
                <c:pt idx="12">
                  <c:v>993</c:v>
                </c:pt>
                <c:pt idx="13">
                  <c:v>1070</c:v>
                </c:pt>
                <c:pt idx="14">
                  <c:v>1116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Região Norte</c:v>
                  </c:pt>
                  <c:pt idx="1">
                    <c:v>Região Nordeste</c:v>
                  </c:pt>
                  <c:pt idx="2">
                    <c:v>Região Sul</c:v>
                  </c:pt>
                  <c:pt idx="3">
                    <c:v>Região Sudeste</c:v>
                  </c:pt>
                  <c:pt idx="4">
                    <c:v>Região Centro-Oeste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2942</c:v>
                </c:pt>
                <c:pt idx="1">
                  <c:v>7078</c:v>
                </c:pt>
                <c:pt idx="2">
                  <c:v>8042</c:v>
                </c:pt>
                <c:pt idx="3">
                  <c:v>12942</c:v>
                </c:pt>
                <c:pt idx="4">
                  <c:v>2364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E4A"/>
          </a:solidFill>
          <a:ln w="12700">
            <a:solidFill>
              <a:srgbClr val="0D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em Idosos no Brasil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Epidemiológica · 2010–2024 · Pessoas com 60 anos ou mais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286000" cy="36576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registrados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no período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anos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analisados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DATASUS/SINAN · IBGE · Ministério da Saúde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AIDS em idosos?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Envelhecimento populacional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tem uma população idosa crescente. Com mais pessoas acima de 60 anos, cresce também a exposição ao HIV nessa faixa etária.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40280"/>
            <a:ext cx="5486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percepção de risco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Idosos historicamente não são incluídos em campanhas de prevenção, levando a diagnósticos tardios e menor uso de preservativos.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5486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sistema de saúde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de 94% nos casos entre 2010 e 2024 representa um desafio crescente para equipes de enfermagem e gestores.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DATASUS/SINAN · Ministério da Saúde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dos casos — Brasil 2010–2024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960120"/>
            <a:ext cx="246888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96012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9224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total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2103120"/>
            <a:ext cx="246888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2103120"/>
            <a:ext cx="73152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pela pandemia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3246120"/>
            <a:ext cx="246888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3246120"/>
            <a:ext cx="73152" cy="960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337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2.973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em 2024 (pico)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queda em 2020 reflete subnotificação pela pandemia de COVID-19, não redução real da doença.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sexo — 2010–2024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960120"/>
            <a:ext cx="24688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960120"/>
            <a:ext cx="73152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005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20.797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92240" y="1417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masculinos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2240" y="16184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do total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09360" y="2057400"/>
            <a:ext cx="24688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057400"/>
            <a:ext cx="73152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12.578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92240" y="2514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femininos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92240" y="27157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do total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09360" y="3154680"/>
            <a:ext cx="24688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3154680"/>
            <a:ext cx="73152" cy="9144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92240" y="3611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 sexo ignorado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92240" y="38130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do SINAN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sexos apresentaram crescimento contínuo, com queda em 2020 associada à pandemia.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regional — total 2010–2024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8346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914400"/>
            <a:ext cx="73152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lidera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12.942 casos — 39% do total nacional. São Paulo concentra 5.904 casos.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103120"/>
            <a:ext cx="28346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103120"/>
            <a:ext cx="73152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cresceu +202%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487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237 casos em 2010 para 716 em 2024. O maior crescimento proporcional.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291840"/>
            <a:ext cx="28346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3291840"/>
            <a:ext cx="73152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em expansão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36758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245% no período — sinal de interiorização da epidemia.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dados regionais representam total geral, sem separação por sexo.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achados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0D2E4A"/>
          </a:solidFill>
          <a:ln w="12700">
            <a:solidFill>
              <a:srgbClr val="17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contínuo e preocupante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 cresceram 94% em 15 anos — de 1.531 (2010) para 2.973 (2024). A tendência é de alta.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0D2E4A"/>
          </a:solidFill>
          <a:ln w="12700">
            <a:solidFill>
              <a:srgbClr val="17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463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Homens são maioria, mas mulheres crescem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dos casos são masculinos, mas ambos os sexos cresceram de forma consistente no período.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0D2E4A"/>
          </a:solidFill>
          <a:ln w="12700">
            <a:solidFill>
              <a:srgbClr val="17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mascarou os dados de 2020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em 2020 não representa melhora real — é reflexo da subnotificação causada pela COVID-19.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0D2E4A"/>
          </a:solidFill>
          <a:ln w="12700">
            <a:solidFill>
              <a:srgbClr val="17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743200"/>
            <a:ext cx="73152" cy="1463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e Norte em aceleração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proporcional nas regiões Norte (+245%) e Nordeste (+202%) indica interiorização da epidemia.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para a prática de enfermagem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de idosos nas ações de prevenção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e orientações sobre HIV/AIDS devem alcançar pessoas acima de 60 anos, que historicamente são excluídas desse público-alvo.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4572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ativo em consultas de rotina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1343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 do teste de HIV deve ser rotina em consultas de enfermagem para idosos, independentemente do motivo da consulta.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4572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9809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redobrada nas regiões Norte e Nordeste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acelerado nessas regiões exige reforço nas estratégias locais de diagnóstico precoce e acompanhamento.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86200"/>
            <a:ext cx="4572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87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das equipes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saúde precisam estar preparados para abordar sexualidade e prevenção com pacientes idosos sem preconceitos ou tabus.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metodológicas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2024 ainda sujeitos a revisão — o processo de notificação leva meses e casos recentes podem ainda não ter chegado ao SINAN.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928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Subnotificação estrutural — especialmente em municípios menores e regiões com menor acesso à saúde. Os números representam casos registrados, não todos os casos existentes.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9689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em 2020 causada pela pandemia de COVID-19 — não representa redução real da doença, mas colapso temporário do sistema de notificação.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924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34670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populacionais do IBGE são projeções — baseadas no Censo 2022. Anos anteriores são retroprojeções e anos posteriores são estimativas.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422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09651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casos com sexo ignorado e 13 com região ignorada/exterior ao longo do período — pequenas discrepâncias nos totais são esperadas.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dos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 / SINAN — Casos de AIDS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— Sistema de Informação de Agravos de Notificação (SINAN). Acesso via DATASUS/TabNet. Dados consolidados até 30/09/2025.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datasus.saude.gov.br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40280"/>
            <a:ext cx="54864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Projeção da População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Brasileiro de Geografia e Estatística. Tabela 7358 — População por sexo e idade. Ano de edição da projeção: 2018.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sidra.ibge.gov.br/Tabela/7358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54864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Epidemiológico HIV/AIDS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— Departamento de HIV, Aids, Tuberculose, Hepatites Virais e IST (Dathi). Publicação anual com dados consolidados.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gov.br/aids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2E4A"/>
          </a:solidFill>
          <a:ln w="12700">
            <a:solidFill>
              <a:srgbClr val="0D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de AIDS em idosos é um problema de saúde pública que exige atenção imediata das equipes de enfermagem e gestores.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realizada com dados oficiais do DATASUS/SINAN e IBGE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2010–2024  ·  Faixa etária: 60 anos ou mais  ·  Fonte: Ministério da Saúde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sujeitos a revisão conforme atualização do SINAN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AIDS em Idosos — Brasil 2010-2024</dc:title>
  <dc:subject>PptxGenJS Presentation</dc:subject>
  <dc:creator>PptxGenJS</dc:creator>
  <cp:lastModifiedBy>PptxGenJS</cp:lastModifiedBy>
  <cp:revision>1</cp:revision>
  <dcterms:created xsi:type="dcterms:W3CDTF">2026-05-14T02:17:51Z</dcterms:created>
  <dcterms:modified xsi:type="dcterms:W3CDTF">2026-05-14T02:17:51Z</dcterms:modified>
</cp:coreProperties>
</file>